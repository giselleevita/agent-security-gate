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164592"/>
            <a:ext cx="3227832" cy="6693408"/>
          </a:xfrm>
          <a:prstGeom prst="rect">
            <a:avLst/>
          </a:prstGeom>
          <a:solidFill>
            <a:srgbClr val="16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66928"/>
            <a:ext cx="10972800" cy="5669280"/>
          </a:xfrm>
          <a:prstGeom prst="rect">
            <a:avLst/>
          </a:prstGeom>
          <a:noFill/>
          <a:ln w="1016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347472"/>
            <a:ext cx="2057400" cy="347472"/>
          </a:xfrm>
          <a:prstGeom prst="round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837943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DD4BF"/>
                </a:solidFill>
                <a:latin typeface="Aptos"/>
              </a:rPr>
              <a:t>AGENT SECURITY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868680"/>
            <a:ext cx="74980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Aptos Display"/>
              </a:rPr>
              <a:t>The enforcement layer for LLM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92807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BA9B8"/>
                </a:solidFill>
                <a:latin typeface="Aptos"/>
              </a:rPr>
              <a:t>Not retrofitted from WAFs or EDR. Built to intercept agent actions before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60120"/>
            <a:ext cx="4480560" cy="237744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960120"/>
            <a:ext cx="73152" cy="23774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143000"/>
            <a:ext cx="4133088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Other tools tell you what happened.
ASG tells you what your agents would do to an attacker's document before they do it, and blocks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" y="4526280"/>
            <a:ext cx="1828800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54296"/>
            <a:ext cx="153619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Stage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10328"/>
            <a:ext cx="153619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Pre-seed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4526280"/>
            <a:ext cx="2560320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9504" y="4654296"/>
            <a:ext cx="22677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Founder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9504" y="4910328"/>
            <a:ext cx="226771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Giselle Koch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4688" y="4526280"/>
            <a:ext cx="2148840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50992" y="4654296"/>
            <a:ext cx="185623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50992" y="4910328"/>
            <a:ext cx="185623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March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4572000"/>
            <a:ext cx="16459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600" b="1">
                <a:solidFill>
                  <a:srgbClr val="2DD4BF"/>
                </a:solidFill>
                <a:latin typeface="Aptos"/>
              </a:rPr>
              <a:t>ASG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486400"/>
            <a:ext cx="27432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9BA9B8"/>
                </a:solidFill>
                <a:latin typeface="Aptos"/>
              </a:rPr>
              <a:t>Security for agent actions,
not just model outputs.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164592"/>
            <a:ext cx="3227832" cy="6693408"/>
          </a:xfrm>
          <a:prstGeom prst="rect">
            <a:avLst/>
          </a:prstGeom>
          <a:solidFill>
            <a:srgbClr val="16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66928"/>
            <a:ext cx="10972800" cy="5669280"/>
          </a:xfrm>
          <a:prstGeom prst="rect">
            <a:avLst/>
          </a:prstGeom>
          <a:noFill/>
          <a:ln w="1016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347472"/>
            <a:ext cx="1280160" cy="347472"/>
          </a:xfrm>
          <a:prstGeom prst="round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607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DD4BF"/>
                </a:solidFill>
                <a:latin typeface="Aptos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868680"/>
            <a:ext cx="74980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Aptos Display"/>
              </a:rPr>
              <a:t>Every enterprise shipping LLM agents is doing it without pre-execution enforcement.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658368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F1F5F9"/>
                </a:solidFill>
                <a:latin typeface="Aptos"/>
              </a:rPr>
              <a:t>"No existing security tool intercepts an agent tool call before it executes."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26080"/>
            <a:ext cx="3246120" cy="205740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072384"/>
            <a:ext cx="291693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F87171"/>
                </a:solidFill>
                <a:latin typeface="Aptos"/>
              </a:rPr>
              <a:t>WHY THIS BREAKS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310128"/>
            <a:ext cx="291693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Agents act with real permissions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913632"/>
            <a:ext cx="2916936" cy="9235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They read files, write databases, call APIs, and message users.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926080"/>
            <a:ext cx="3246120" cy="205740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3072384"/>
            <a:ext cx="291693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F87171"/>
                </a:solidFill>
                <a:latin typeface="Aptos"/>
              </a:rPr>
              <a:t>WHY CURRENT TOOLS FAIL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310128"/>
            <a:ext cx="291693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They see the wrong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3913632"/>
            <a:ext cx="2916936" cy="9235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WAF sees packets. EDR sees endpoints. Prompt filters see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926080"/>
            <a:ext cx="2743200" cy="205740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3072384"/>
            <a:ext cx="241401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F87171"/>
                </a:solidFill>
                <a:latin typeface="Aptos"/>
              </a:rPr>
              <a:t>BUYER 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3310128"/>
            <a:ext cx="241401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Regulation makes this urgent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913632"/>
            <a:ext cx="2414016" cy="9235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NIS2, DORA, and the EU AI Act demand provable governance.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5303520"/>
            <a:ext cx="2743200" cy="86868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18704" y="5431536"/>
            <a:ext cx="245059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Interview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18704" y="5687568"/>
            <a:ext cx="245059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20 / 20 teams said they need a gate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164592"/>
            <a:ext cx="3227832" cy="6693408"/>
          </a:xfrm>
          <a:prstGeom prst="rect">
            <a:avLst/>
          </a:prstGeom>
          <a:solidFill>
            <a:srgbClr val="16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66928"/>
            <a:ext cx="10972800" cy="5669280"/>
          </a:xfrm>
          <a:prstGeom prst="rect">
            <a:avLst/>
          </a:prstGeom>
          <a:noFill/>
          <a:ln w="1016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347472"/>
            <a:ext cx="1737360" cy="347472"/>
          </a:xfrm>
          <a:prstGeom prst="round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5179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DD4BF"/>
                </a:solidFill>
                <a:latin typeface="Aptos"/>
              </a:rPr>
              <a:t>ATTACK 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868680"/>
            <a:ext cx="74980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Aptos Display"/>
              </a:rPr>
              <a:t>LLM agents create attack paths that existing security tools cannot block.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1817827" cy="384048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92807"/>
            <a:ext cx="1634947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95067" y="1828800"/>
            <a:ext cx="4674412" cy="384048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4795" y="1892807"/>
            <a:ext cx="449153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Attack / consequence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12848"/>
            <a:ext cx="1817827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04288"/>
            <a:ext cx="165323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T1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5067" y="2212848"/>
            <a:ext cx="4674412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86507" y="2304288"/>
            <a:ext cx="45098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Prompt injection via malicious documents -&gt; PII exfiltration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706624"/>
            <a:ext cx="1817827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798064"/>
            <a:ext cx="165323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T2/T3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95067" y="2706624"/>
            <a:ext cx="4674412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86507" y="2798064"/>
            <a:ext cx="45098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SSRF through agent HTTP tools -&gt; metadata and IAM exposure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200400"/>
            <a:ext cx="1817827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91840"/>
            <a:ext cx="165323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T4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95067" y="3200400"/>
            <a:ext cx="4674412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86507" y="3291840"/>
            <a:ext cx="45098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Approval bypass -&gt; dangerous write without human review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694176"/>
            <a:ext cx="1817827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785615"/>
            <a:ext cx="165323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T5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95067" y="3694176"/>
            <a:ext cx="4674412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86507" y="3785615"/>
            <a:ext cx="45098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Prompt or canary leakage -&gt; internal instructions exposed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187952"/>
            <a:ext cx="1817827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279392"/>
            <a:ext cx="165323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T6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5067" y="4187952"/>
            <a:ext cx="4674412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86507" y="4279392"/>
            <a:ext cx="45098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Excessive agency -&gt; runaway action chains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681728"/>
            <a:ext cx="1817827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773168"/>
            <a:ext cx="165323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T7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5067" y="4681728"/>
            <a:ext cx="4674412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86507" y="4773168"/>
            <a:ext cx="45098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Compliance drift -&gt; CI says green while controls are weak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1874519"/>
            <a:ext cx="3474720" cy="91440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35240" y="1874519"/>
            <a:ext cx="73152" cy="914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54696" y="2057400"/>
            <a:ext cx="3127248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CHAIN A
Injection -&gt; weak policy -&gt; exfiltration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35240" y="2944368"/>
            <a:ext cx="3474720" cy="91440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35240" y="2944368"/>
            <a:ext cx="73152" cy="914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54696" y="3127248"/>
            <a:ext cx="3127248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CHAIN B
Crafted URL -&gt; SSRF -&gt; internal access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35240" y="4014215"/>
            <a:ext cx="3474720" cy="91440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35240" y="4014215"/>
            <a:ext cx="73152" cy="914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54696" y="4197096"/>
            <a:ext cx="3127248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CHAIN C
No approval backend -&gt; self-approval -&gt;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164592"/>
            <a:ext cx="3227832" cy="6693408"/>
          </a:xfrm>
          <a:prstGeom prst="rect">
            <a:avLst/>
          </a:prstGeom>
          <a:solidFill>
            <a:srgbClr val="16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66928"/>
            <a:ext cx="10972800" cy="5669280"/>
          </a:xfrm>
          <a:prstGeom prst="rect">
            <a:avLst/>
          </a:prstGeom>
          <a:noFill/>
          <a:ln w="1016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347472"/>
            <a:ext cx="1371600" cy="347472"/>
          </a:xfrm>
          <a:prstGeom prst="round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1521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DD4BF"/>
                </a:solidFill>
                <a:latin typeface="Aptos"/>
              </a:rP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868680"/>
            <a:ext cx="74980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Aptos Display"/>
              </a:rPr>
              <a:t>ASG gives every tool call a policy decision in under 5ms.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4297680" cy="288036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148840"/>
            <a:ext cx="3749039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F1F5F9"/>
                </a:solidFill>
                <a:latin typeface="Aptos"/>
              </a:rPr>
              <a:t>@asg.gate(mode="enforce")
def read_file(path): ...
# denied_doc_prefix: /internal/
# decision in &lt;5ms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828800"/>
            <a:ext cx="1783080" cy="224028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0992" y="1975104"/>
            <a:ext cx="1453895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0992" y="2212848"/>
            <a:ext cx="1453895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Intercept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816352"/>
            <a:ext cx="1453895" cy="11064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SDK wraps the tool 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828800"/>
            <a:ext cx="1783080" cy="224028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1" y="1975104"/>
            <a:ext cx="1453895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2212848"/>
            <a:ext cx="1453895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2816352"/>
            <a:ext cx="1453895" cy="11064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URL and context hardened before evaluation.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828800"/>
            <a:ext cx="1783080" cy="224028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91472" y="1975104"/>
            <a:ext cx="1453895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2212848"/>
            <a:ext cx="1453895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2816352"/>
            <a:ext cx="1453895" cy="11064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OPA policy returns allow, deny, or quarantine.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526280"/>
            <a:ext cx="5623560" cy="86868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0" y="4526280"/>
            <a:ext cx="73152" cy="8686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4709160"/>
            <a:ext cx="5276088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Observe for rollout. Enforce for protection. Dry-run for policy changes.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4800600"/>
            <a:ext cx="1691640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52744" y="4928616"/>
            <a:ext cx="139903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Latency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52744" y="5184648"/>
            <a:ext cx="139903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&lt;5ms P99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62672" y="4800600"/>
            <a:ext cx="1417320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8976" y="4928616"/>
            <a:ext cx="11247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Rollout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08976" y="5184648"/>
            <a:ext cx="112471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observe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4800600"/>
            <a:ext cx="2148840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81744" y="4928616"/>
            <a:ext cx="185623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Modes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1744" y="5184648"/>
            <a:ext cx="185623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enforce / dry-run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164592"/>
            <a:ext cx="3227832" cy="6693408"/>
          </a:xfrm>
          <a:prstGeom prst="rect">
            <a:avLst/>
          </a:prstGeom>
          <a:solidFill>
            <a:srgbClr val="16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66928"/>
            <a:ext cx="10972800" cy="5669280"/>
          </a:xfrm>
          <a:prstGeom prst="rect">
            <a:avLst/>
          </a:prstGeom>
          <a:noFill/>
          <a:ln w="1016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347472"/>
            <a:ext cx="1097280" cy="347472"/>
          </a:xfrm>
          <a:prstGeom prst="round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8778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DD4BF"/>
                </a:solidFill>
                <a:latin typeface="Aptos"/>
              </a:rP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868680"/>
            <a:ext cx="74980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Aptos Display"/>
              </a:rPr>
              <a:t>In three minutes, an investor sees the attack and the block.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3474720" cy="329184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66544"/>
            <a:ext cx="314553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F87171"/>
                </a:solidFill>
                <a:latin typeface="Aptos"/>
              </a:rPr>
              <a:t>MINUTE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04288"/>
            <a:ext cx="314553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Without ASG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07792"/>
            <a:ext cx="3145536" cy="21579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Prompt injection lands.
read_file succeeds.
http_post exfil succeeds.
No meaningful alert.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920240"/>
            <a:ext cx="3200400" cy="329184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066544"/>
            <a:ext cx="287121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MINUTE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304288"/>
            <a:ext cx="287121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Add 3 lines of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907792"/>
            <a:ext cx="2871216" cy="21579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@asg.gate wraps the tool.
Replay exact attack.
read_file blocked.
http_post blocked.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920240"/>
            <a:ext cx="3474720" cy="329184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2066544"/>
            <a:ext cx="314553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MINUTE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2304288"/>
            <a:ext cx="314553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Show the CI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2907792"/>
            <a:ext cx="3145536" cy="21579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Eval harness runs.
SARIF appears in GitHub Advanced Security.
PR blocked before merge.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164592"/>
            <a:ext cx="3227832" cy="6693408"/>
          </a:xfrm>
          <a:prstGeom prst="rect">
            <a:avLst/>
          </a:prstGeom>
          <a:solidFill>
            <a:srgbClr val="16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66928"/>
            <a:ext cx="10972800" cy="5669280"/>
          </a:xfrm>
          <a:prstGeom prst="rect">
            <a:avLst/>
          </a:prstGeom>
          <a:noFill/>
          <a:ln w="1016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347472"/>
            <a:ext cx="1234440" cy="347472"/>
          </a:xfrm>
          <a:prstGeom prst="round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149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DD4BF"/>
                </a:solidFill>
                <a:latin typeface="Aptos"/>
              </a:rPr>
              <a:t>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868680"/>
            <a:ext cx="74980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Aptos Display"/>
              </a:rPr>
              <a:t>The agent security market is forming now. That is the opening.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828800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956816"/>
            <a:ext cx="153619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212848"/>
            <a:ext cx="153619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EUR300M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828800"/>
            <a:ext cx="1965960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1956816"/>
            <a:ext cx="1673351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3Y SOM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2212848"/>
            <a:ext cx="1673351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EUR5M ARR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828800"/>
            <a:ext cx="2057400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1224" y="1956816"/>
            <a:ext cx="176479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2212848"/>
            <a:ext cx="176479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18-24 months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154680"/>
            <a:ext cx="4754880" cy="205740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300984"/>
            <a:ext cx="43891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9BA9B8"/>
                </a:solidFill>
                <a:latin typeface="Aptos"/>
              </a:rPr>
              <a:t>Bottom-up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721608"/>
            <a:ext cx="10972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9BA9B8"/>
                </a:solidFill>
                <a:latin typeface="Aptos"/>
              </a:rPr>
              <a:t>Companies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84832" y="3739896"/>
            <a:ext cx="3383280" cy="128016"/>
          </a:xfrm>
          <a:prstGeom prst="rect">
            <a:avLst/>
          </a:prstGeom>
          <a:solidFill>
            <a:srgbClr val="23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84832" y="3739896"/>
            <a:ext cx="10149" cy="1280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3694176"/>
            <a:ext cx="685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F1F5F9"/>
                </a:solidFill>
                <a:latin typeface="Aptos"/>
              </a:rPr>
              <a:t>15k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224528"/>
            <a:ext cx="10972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9BA9B8"/>
                </a:solidFill>
                <a:latin typeface="Aptos"/>
              </a:rPr>
              <a:t>Blended ACV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84832" y="4242816"/>
            <a:ext cx="3383280" cy="128016"/>
          </a:xfrm>
          <a:prstGeom prst="rect">
            <a:avLst/>
          </a:prstGeom>
          <a:solidFill>
            <a:srgbClr val="23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4832" y="4242816"/>
            <a:ext cx="13533" cy="1280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4197096"/>
            <a:ext cx="685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F1F5F9"/>
                </a:solidFill>
                <a:latin typeface="Aptos"/>
              </a:rPr>
              <a:t>EUR20k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727448"/>
            <a:ext cx="10972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9BA9B8"/>
                </a:solidFill>
                <a:latin typeface="Aptos"/>
              </a:rPr>
              <a:t>SOM target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84832" y="4745736"/>
            <a:ext cx="3383280" cy="128016"/>
          </a:xfrm>
          <a:prstGeom prst="rect">
            <a:avLst/>
          </a:prstGeom>
          <a:solidFill>
            <a:srgbClr val="23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84832" y="4745736"/>
            <a:ext cx="3383280" cy="1280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4700016"/>
            <a:ext cx="685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F1F5F9"/>
                </a:solidFill>
                <a:latin typeface="Aptos"/>
              </a:rPr>
              <a:t>EUR5M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3154680"/>
            <a:ext cx="5029200" cy="205740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89320" y="3154680"/>
            <a:ext cx="73152" cy="2057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08776" y="3337560"/>
            <a:ext cx="4681728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Why now
Regulation is live.
Agent adoption is shifting from prototype to production.
Incumbents have not filled the gap yet.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164592"/>
            <a:ext cx="3227832" cy="6693408"/>
          </a:xfrm>
          <a:prstGeom prst="rect">
            <a:avLst/>
          </a:prstGeom>
          <a:solidFill>
            <a:srgbClr val="16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66928"/>
            <a:ext cx="10972800" cy="5669280"/>
          </a:xfrm>
          <a:prstGeom prst="rect">
            <a:avLst/>
          </a:prstGeom>
          <a:noFill/>
          <a:ln w="1016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347472"/>
            <a:ext cx="1920240" cy="347472"/>
          </a:xfrm>
          <a:prstGeom prst="round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700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DD4BF"/>
                </a:solidFill>
                <a:latin typeface="Aptos"/>
              </a:rPr>
              <a:t>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868680"/>
            <a:ext cx="74980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Aptos Display"/>
              </a:rPr>
              <a:t>Open-core land-and-expand: developer adoption, compliance conversion.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1433779" cy="384048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92807"/>
            <a:ext cx="1250899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Tier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1019" y="1828800"/>
            <a:ext cx="3686860" cy="384048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20747" y="1892807"/>
            <a:ext cx="35039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Pricing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12848"/>
            <a:ext cx="1433779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04288"/>
            <a:ext cx="1269187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Free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1019" y="2212848"/>
            <a:ext cx="3686860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2459" y="2304288"/>
            <a:ext cx="35222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10,000 decisions / month -&gt; EUR0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706624"/>
            <a:ext cx="1433779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798064"/>
            <a:ext cx="1269187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Pro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11019" y="2706624"/>
            <a:ext cx="3686860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02459" y="2798064"/>
            <a:ext cx="35222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500,000 decisions / month -&gt; EUR299 / 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200400"/>
            <a:ext cx="1433779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91840"/>
            <a:ext cx="1269187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Business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11019" y="3200400"/>
            <a:ext cx="3686860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02459" y="3291840"/>
            <a:ext cx="35222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5,000,000 decisions / month -&gt; EUR1,499 / month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694176"/>
            <a:ext cx="1433779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785615"/>
            <a:ext cx="1269187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Enterprise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11019" y="3694176"/>
            <a:ext cx="3686860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02459" y="3785615"/>
            <a:ext cx="35222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Unlimited -&gt; EUR30k-EUR90k ACV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187952"/>
            <a:ext cx="1433779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279392"/>
            <a:ext cx="1269187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On-prem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11019" y="4187952"/>
            <a:ext cx="3686860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02459" y="4279392"/>
            <a:ext cx="35222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Unlimited -&gt; EUR200k+ ACV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1828800"/>
            <a:ext cx="1645920" cy="201168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1975104"/>
            <a:ext cx="131673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LAND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2212848"/>
            <a:ext cx="131673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Observe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2816352"/>
            <a:ext cx="1316736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Free SDK. Fast install. Visible risk.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1828800"/>
            <a:ext cx="1645920" cy="201168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48471" y="1975104"/>
            <a:ext cx="131673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EXPAND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1" y="2212848"/>
            <a:ext cx="131673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Enforce mode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1" y="2816352"/>
            <a:ext cx="1316736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Security turns on blocking after proof.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0" y="1828800"/>
            <a:ext cx="1188720" cy="201168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22992" y="1975104"/>
            <a:ext cx="85953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STICK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22992" y="2212848"/>
            <a:ext cx="85953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Compliance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22992" y="2816352"/>
            <a:ext cx="859536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Evidence output drives Enterprise upsell.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4709160"/>
            <a:ext cx="1554480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55664" y="4837176"/>
            <a:ext cx="126187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Gross margin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5664" y="5093208"/>
            <a:ext cx="126187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&gt;=75%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4709160"/>
            <a:ext cx="1737360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93024" y="4837176"/>
            <a:ext cx="1444751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CAC payback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3024" y="5093208"/>
            <a:ext cx="1444751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&lt;12 months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12680" y="4709160"/>
            <a:ext cx="1463040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58984" y="4837176"/>
            <a:ext cx="117043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NRR target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58984" y="5093208"/>
            <a:ext cx="117043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&gt;=110%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164592"/>
            <a:ext cx="3227832" cy="6693408"/>
          </a:xfrm>
          <a:prstGeom prst="rect">
            <a:avLst/>
          </a:prstGeom>
          <a:solidFill>
            <a:srgbClr val="16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66928"/>
            <a:ext cx="10972800" cy="5669280"/>
          </a:xfrm>
          <a:prstGeom prst="rect">
            <a:avLst/>
          </a:prstGeom>
          <a:noFill/>
          <a:ln w="1016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347472"/>
            <a:ext cx="1280160" cy="347472"/>
          </a:xfrm>
          <a:prstGeom prst="round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607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DD4BF"/>
                </a:solidFill>
                <a:latin typeface="Aptos"/>
              </a:rPr>
              <a:t>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868680"/>
            <a:ext cx="74980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Aptos Display"/>
              </a:rPr>
              <a:t>Pre-revenue, but the architecture and operating plan already exist.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3108960" cy="251460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73152" cy="2514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011680"/>
            <a:ext cx="2761488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Built
Gateway scaffold
Benchmark runner
Threat model
Execution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828800"/>
            <a:ext cx="2743200" cy="251460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828800"/>
            <a:ext cx="73152" cy="25146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2011680"/>
            <a:ext cx="2395728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Missing
Approval service
Design partners
Paying customers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828800"/>
            <a:ext cx="3657600" cy="251460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1828800"/>
            <a:ext cx="73152" cy="2514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2011680"/>
            <a:ext cx="3310128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Next 90 days
Close P0 gaps
Ship SARIF CI
Start design partner pipeline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093207"/>
            <a:ext cx="164592" cy="16459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047488"/>
            <a:ext cx="5486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2DD4BF"/>
                </a:solidFill>
                <a:latin typeface="Aptos"/>
              </a:rPr>
              <a:t>30d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047488"/>
            <a:ext cx="8961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F1F5F9"/>
                </a:solidFill>
                <a:latin typeface="Aptos"/>
              </a:rPr>
              <a:t>P0 closed and benchmark tightened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" y="5276088"/>
            <a:ext cx="36576" cy="411480"/>
          </a:xfrm>
          <a:prstGeom prst="rect">
            <a:avLst/>
          </a:prstGeom>
          <a:solidFill>
            <a:srgbClr val="23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5751575"/>
            <a:ext cx="164592" cy="16459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2" y="5705855"/>
            <a:ext cx="5486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2DD4BF"/>
                </a:solidFill>
                <a:latin typeface="Aptos"/>
              </a:rPr>
              <a:t>60d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705855"/>
            <a:ext cx="8961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F1F5F9"/>
                </a:solidFill>
                <a:latin typeface="Aptos"/>
              </a:rPr>
              <a:t>3 design partner conversations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" y="5934455"/>
            <a:ext cx="36576" cy="411480"/>
          </a:xfrm>
          <a:prstGeom prst="rect">
            <a:avLst/>
          </a:prstGeom>
          <a:solidFill>
            <a:srgbClr val="23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6409943"/>
            <a:ext cx="164592" cy="16459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6364223"/>
            <a:ext cx="5486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2DD4BF"/>
                </a:solidFill>
                <a:latin typeface="Aptos"/>
              </a:rPr>
              <a:t>90d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6364223"/>
            <a:ext cx="8961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F1F5F9"/>
                </a:solidFill>
                <a:latin typeface="Aptos"/>
              </a:rPr>
              <a:t>Production MVP path underway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164592"/>
            <a:ext cx="3227832" cy="6693408"/>
          </a:xfrm>
          <a:prstGeom prst="rect">
            <a:avLst/>
          </a:prstGeom>
          <a:solidFill>
            <a:srgbClr val="16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66928"/>
            <a:ext cx="10972800" cy="5669280"/>
          </a:xfrm>
          <a:prstGeom prst="rect">
            <a:avLst/>
          </a:prstGeom>
          <a:noFill/>
          <a:ln w="1016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347472"/>
            <a:ext cx="1645920" cy="347472"/>
          </a:xfrm>
          <a:prstGeom prst="round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42646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DD4BF"/>
                </a:solidFill>
                <a:latin typeface="Aptos"/>
              </a:rPr>
              <a:t>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868680"/>
            <a:ext cx="74980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Aptos Display"/>
              </a:rPr>
              <a:t>No direct competitor. Adjacent tools are reactive, not pre-execution.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1741017" cy="384048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92807"/>
            <a:ext cx="1558137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Category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8257" y="1828800"/>
            <a:ext cx="4476902" cy="384048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7985" y="1892807"/>
            <a:ext cx="429402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Critical gap vs ASG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12848"/>
            <a:ext cx="1741017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04288"/>
            <a:ext cx="157642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Prompt filters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8257" y="2212848"/>
            <a:ext cx="4476902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9697" y="2304288"/>
            <a:ext cx="431231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Reactive text filtering, no tool-call semantics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706624"/>
            <a:ext cx="1741017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798064"/>
            <a:ext cx="157642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WAF / API gateway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8257" y="2706624"/>
            <a:ext cx="4476902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9697" y="2798064"/>
            <a:ext cx="431231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Sees traffic, not agent intent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200400"/>
            <a:ext cx="1741017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91840"/>
            <a:ext cx="157642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SIEM / observability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8257" y="3200400"/>
            <a:ext cx="4476902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9697" y="3291840"/>
            <a:ext cx="431231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Logs after the fact, cannot block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694176"/>
            <a:ext cx="1741017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785615"/>
            <a:ext cx="157642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Agent tracing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8257" y="3694176"/>
            <a:ext cx="4476902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9697" y="3785615"/>
            <a:ext cx="431231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Observes runs, not policy enforcement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187952"/>
            <a:ext cx="1741017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279392"/>
            <a:ext cx="157642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Manual red team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8257" y="4187952"/>
            <a:ext cx="4476902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09697" y="4279392"/>
            <a:ext cx="431231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One-off testing, not reproducible CI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681728"/>
            <a:ext cx="1741017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773168"/>
            <a:ext cx="157642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Nothing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8257" y="4681728"/>
            <a:ext cx="4476902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09697" y="4773168"/>
            <a:ext cx="431231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Prompt engineering plus hope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1828800"/>
            <a:ext cx="3840480" cy="132588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0" y="1828800"/>
            <a:ext cx="73152" cy="1325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34656" y="2011680"/>
            <a:ext cx="3493008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Positioning
ASG is the only product in this set built around pre-execution enforcement.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3474720"/>
            <a:ext cx="1783080" cy="178308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79792" y="3621024"/>
            <a:ext cx="1453895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EDGE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9792" y="3858768"/>
            <a:ext cx="1453895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Before execution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9792" y="4462272"/>
            <a:ext cx="1453895" cy="6492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Policy decision before the action runs.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81160" y="3474720"/>
            <a:ext cx="1783080" cy="178308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45752" y="3621024"/>
            <a:ext cx="1453895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EDGE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45752" y="3858768"/>
            <a:ext cx="1453895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CI-native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45752" y="4462272"/>
            <a:ext cx="1453895" cy="6492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Scenario corpus wired into regression gates.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164592"/>
            <a:ext cx="3227832" cy="6693408"/>
          </a:xfrm>
          <a:prstGeom prst="rect">
            <a:avLst/>
          </a:prstGeom>
          <a:solidFill>
            <a:srgbClr val="16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66928"/>
            <a:ext cx="10972800" cy="5669280"/>
          </a:xfrm>
          <a:prstGeom prst="rect">
            <a:avLst/>
          </a:prstGeom>
          <a:noFill/>
          <a:ln w="1016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347472"/>
            <a:ext cx="1097280" cy="347472"/>
          </a:xfrm>
          <a:prstGeom prst="round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8778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DD4BF"/>
                </a:solidFill>
                <a:latin typeface="Aptos"/>
              </a:rPr>
              <a:t>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868680"/>
            <a:ext cx="74980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Aptos Display"/>
              </a:rPr>
              <a:t>Three compounding advantages get stronger with every customer.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3383280" cy="246888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20824"/>
            <a:ext cx="305409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MOAT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58568"/>
            <a:ext cx="305409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Corpus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862072"/>
            <a:ext cx="3054096" cy="13350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Customer incidents become proprietary attack scenarios.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874519"/>
            <a:ext cx="3383280" cy="246888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20824"/>
            <a:ext cx="305409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MOAT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58568"/>
            <a:ext cx="305409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Normalizer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62072"/>
            <a:ext cx="3054096" cy="13350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Agent-aware SSRF handling is difficult and underbuilt.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1874519"/>
            <a:ext cx="3383280" cy="246888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2020824"/>
            <a:ext cx="305409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MOAT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258568"/>
            <a:ext cx="305409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862072"/>
            <a:ext cx="3054096" cy="13350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Compliance retention makes the product sticky.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98755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F1F5F9"/>
                </a:solidFill>
                <a:latin typeface="Aptos"/>
              </a:rPr>
              <a:t>"More customers create more incidents. More incidents create a better corpus."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164592"/>
            <a:ext cx="3227832" cy="6693408"/>
          </a:xfrm>
          <a:prstGeom prst="rect">
            <a:avLst/>
          </a:prstGeom>
          <a:solidFill>
            <a:srgbClr val="16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66928"/>
            <a:ext cx="10972800" cy="5669280"/>
          </a:xfrm>
          <a:prstGeom prst="rect">
            <a:avLst/>
          </a:prstGeom>
          <a:noFill/>
          <a:ln w="1016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347472"/>
            <a:ext cx="1051560" cy="347472"/>
          </a:xfrm>
          <a:prstGeom prst="round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832103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DD4BF"/>
                </a:solidFill>
                <a:latin typeface="Aptos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868680"/>
            <a:ext cx="74980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Aptos Display"/>
              </a:rPr>
              <a:t>One technical founder now hiring the execution team.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846320" cy="288036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73152" cy="28803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011680"/>
            <a:ext cx="4498848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Giselle Koch
Software engineer and security architect.
Backend, APIs, NLP/AI, and security-heavy systems.
EU regulatory fluency.
Based in Copenhagen.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1828800" cy="201168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975104"/>
            <a:ext cx="149961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HIRE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212848"/>
            <a:ext cx="149961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Senior backend 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816352"/>
            <a:ext cx="1499616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Gateway, SDK, eval harness.
Month 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828800"/>
            <a:ext cx="1737360" cy="201168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975104"/>
            <a:ext cx="140817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HIRE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212848"/>
            <a:ext cx="140817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Enterprise sales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2816352"/>
            <a:ext cx="1408176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First 10 customers.
Month 4.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0" y="1828800"/>
            <a:ext cx="1143000" cy="201168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14432" y="1975104"/>
            <a:ext cx="81381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MILESTONE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4432" y="2212848"/>
            <a:ext cx="81381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1F5F9"/>
                </a:solidFill>
                <a:latin typeface="Aptos"/>
              </a:rPr>
              <a:t>SOC2 Type 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4432" y="2816352"/>
            <a:ext cx="813816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BA9B8"/>
                </a:solidFill>
                <a:latin typeface="Aptos"/>
              </a:rPr>
              <a:t>Audit engagement.
Month 6.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709160"/>
            <a:ext cx="2194560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4837176"/>
            <a:ext cx="19019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Advisory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5093208"/>
            <a:ext cx="190195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CISO-in-residence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709160"/>
            <a:ext cx="2560320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95944" y="4837176"/>
            <a:ext cx="22677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Advisory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95944" y="5093208"/>
            <a:ext cx="226771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EU regulatory counsel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164592"/>
            <a:ext cx="3227832" cy="6693408"/>
          </a:xfrm>
          <a:prstGeom prst="rect">
            <a:avLst/>
          </a:prstGeom>
          <a:solidFill>
            <a:srgbClr val="16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66928"/>
            <a:ext cx="10972800" cy="5669280"/>
          </a:xfrm>
          <a:prstGeom prst="rect">
            <a:avLst/>
          </a:prstGeom>
          <a:noFill/>
          <a:ln w="1016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347472"/>
            <a:ext cx="1371600" cy="347472"/>
          </a:xfrm>
          <a:prstGeom prst="round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1521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DD4BF"/>
                </a:solidFill>
                <a:latin typeface="Aptos"/>
              </a:rP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868680"/>
            <a:ext cx="74980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Aptos Display"/>
              </a:rPr>
              <a:t>EUR500k to reach production MVP, SOC2 Type I, and a Series A-ready 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874519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956816"/>
            <a:ext cx="1581911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Raise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212848"/>
            <a:ext cx="1581911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EUR500k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828800"/>
            <a:ext cx="1965960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1956816"/>
            <a:ext cx="1673351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18-month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2212848"/>
            <a:ext cx="1673351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EUR1M ARR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828800"/>
            <a:ext cx="1874519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1224" y="1956816"/>
            <a:ext cx="1581911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2212848"/>
            <a:ext cx="1581911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30 paying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1828800"/>
            <a:ext cx="1828800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78624" y="1956816"/>
            <a:ext cx="153619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Close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2212848"/>
            <a:ext cx="153619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60 days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828800"/>
            <a:ext cx="2148840" cy="1005840"/>
          </a:xfrm>
          <a:prstGeom prst="roundRect">
            <a:avLst/>
          </a:prstGeom>
          <a:solidFill>
            <a:srgbClr val="161F2C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0304" y="1956816"/>
            <a:ext cx="185623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BA9B8"/>
                </a:solidFill>
                <a:latin typeface="Aptos"/>
              </a:rPr>
              <a:t>Exit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2212848"/>
            <a:ext cx="185623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DD4BF"/>
                </a:solidFill>
                <a:latin typeface="Aptos"/>
              </a:rPr>
              <a:t>EUR15M-EUR25M at EUR1M ARR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291840"/>
            <a:ext cx="1177747" cy="384048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355848"/>
            <a:ext cx="994867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Use of funds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00707" y="3291840"/>
            <a:ext cx="3028492" cy="384048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10435" y="3355848"/>
            <a:ext cx="28456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Amount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675888"/>
            <a:ext cx="1177747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767328"/>
            <a:ext cx="101315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Engineering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00707" y="3675888"/>
            <a:ext cx="3028492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92147" y="3767328"/>
            <a:ext cx="28639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EUR250k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169664"/>
            <a:ext cx="1177747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261104"/>
            <a:ext cx="101315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Sales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00707" y="4169664"/>
            <a:ext cx="3028492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92147" y="4261104"/>
            <a:ext cx="28639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EUR125k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4663440"/>
            <a:ext cx="1177747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754880"/>
            <a:ext cx="101315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SOC2 Type 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00707" y="4663440"/>
            <a:ext cx="3028492" cy="493776"/>
          </a:xfrm>
          <a:prstGeom prst="rect">
            <a:avLst/>
          </a:prstGeom>
          <a:solidFill>
            <a:srgbClr val="111822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92147" y="4754880"/>
            <a:ext cx="28639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EUR75k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5157216"/>
            <a:ext cx="1177747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248656"/>
            <a:ext cx="101315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Infrastructure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00707" y="5157216"/>
            <a:ext cx="3028492" cy="493776"/>
          </a:xfrm>
          <a:prstGeom prst="rect">
            <a:avLst/>
          </a:prstGeom>
          <a:solidFill>
            <a:srgbClr val="161F2C"/>
          </a:solidFill>
          <a:ln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92147" y="5248656"/>
            <a:ext cx="28639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1F5F9"/>
                </a:solidFill>
                <a:latin typeface="Aptos"/>
              </a:rPr>
              <a:t>EUR50k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49240" y="3291840"/>
            <a:ext cx="2057400" cy="2286000"/>
          </a:xfrm>
          <a:prstGeom prst="roundRect">
            <a:avLst/>
          </a:prstGeom>
          <a:solidFill>
            <a:srgbClr val="111822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32120" y="3438144"/>
            <a:ext cx="16916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9BA9B8"/>
                </a:solidFill>
                <a:latin typeface="Aptos"/>
              </a:rPr>
              <a:t>Allocation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05272" y="3858768"/>
            <a:ext cx="10972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9BA9B8"/>
                </a:solidFill>
                <a:latin typeface="Aptos"/>
              </a:rPr>
              <a:t>Engineering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11112" y="3877055"/>
            <a:ext cx="685800" cy="128016"/>
          </a:xfrm>
          <a:prstGeom prst="rect">
            <a:avLst/>
          </a:prstGeom>
          <a:solidFill>
            <a:srgbClr val="23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11112" y="3877055"/>
            <a:ext cx="685800" cy="1280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3831335"/>
            <a:ext cx="685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F1F5F9"/>
                </a:solidFill>
                <a:latin typeface="Aptos"/>
              </a:rPr>
              <a:t>50%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05272" y="4361688"/>
            <a:ext cx="10972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9BA9B8"/>
                </a:solidFill>
                <a:latin typeface="Aptos"/>
              </a:rPr>
              <a:t>Sales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11112" y="4379975"/>
            <a:ext cx="685800" cy="128016"/>
          </a:xfrm>
          <a:prstGeom prst="rect">
            <a:avLst/>
          </a:prstGeom>
          <a:solidFill>
            <a:srgbClr val="23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611112" y="4379975"/>
            <a:ext cx="342900" cy="1280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06640" y="4334255"/>
            <a:ext cx="685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F1F5F9"/>
                </a:solidFill>
                <a:latin typeface="Aptos"/>
              </a:rPr>
              <a:t>25%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05272" y="4864608"/>
            <a:ext cx="10972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9BA9B8"/>
                </a:solidFill>
                <a:latin typeface="Aptos"/>
              </a:rPr>
              <a:t>SOC2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11112" y="4882896"/>
            <a:ext cx="685800" cy="128016"/>
          </a:xfrm>
          <a:prstGeom prst="rect">
            <a:avLst/>
          </a:prstGeom>
          <a:solidFill>
            <a:srgbClr val="23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11112" y="4882896"/>
            <a:ext cx="205739" cy="1280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06640" y="4837176"/>
            <a:ext cx="685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F1F5F9"/>
                </a:solidFill>
                <a:latin typeface="Aptos"/>
              </a:rPr>
              <a:t>15%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05272" y="5367528"/>
            <a:ext cx="10972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9BA9B8"/>
                </a:solidFill>
                <a:latin typeface="Aptos"/>
              </a:rPr>
              <a:t>Infra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11112" y="5385816"/>
            <a:ext cx="685800" cy="128016"/>
          </a:xfrm>
          <a:prstGeom prst="rect">
            <a:avLst/>
          </a:prstGeom>
          <a:solidFill>
            <a:srgbClr val="23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611112" y="5385816"/>
            <a:ext cx="137160" cy="1280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06640" y="5340096"/>
            <a:ext cx="685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F1F5F9"/>
                </a:solidFill>
                <a:latin typeface="Aptos"/>
              </a:rPr>
              <a:t>10%</a:t>
            </a:r>
          </a:p>
        </p:txBody>
      </p:sp>
      <p:sp>
        <p:nvSpPr>
          <p:cNvPr id="61" name="Oval 60"/>
          <p:cNvSpPr/>
          <p:nvPr/>
        </p:nvSpPr>
        <p:spPr>
          <a:xfrm>
            <a:off x="7818120" y="3419856"/>
            <a:ext cx="164592" cy="16459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74152" y="3374136"/>
            <a:ext cx="5486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2DD4BF"/>
                </a:solidFill>
                <a:latin typeface="Aptos"/>
              </a:rPr>
              <a:t>3 mo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32520" y="3374136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F1F5F9"/>
                </a:solidFill>
                <a:latin typeface="Aptos"/>
              </a:rPr>
              <a:t>3 design partners signed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2128" y="3602736"/>
            <a:ext cx="36576" cy="411480"/>
          </a:xfrm>
          <a:prstGeom prst="rect">
            <a:avLst/>
          </a:prstGeom>
          <a:solidFill>
            <a:srgbClr val="23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818120" y="4078224"/>
            <a:ext cx="164592" cy="16459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74152" y="4032504"/>
            <a:ext cx="5486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2DD4BF"/>
                </a:solidFill>
                <a:latin typeface="Aptos"/>
              </a:rPr>
              <a:t>6 mo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4032504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F1F5F9"/>
                </a:solidFill>
                <a:latin typeface="Aptos"/>
              </a:rPr>
              <a:t>Production MVP and approval service live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82128" y="4261104"/>
            <a:ext cx="36576" cy="411480"/>
          </a:xfrm>
          <a:prstGeom prst="rect">
            <a:avLst/>
          </a:prstGeom>
          <a:solidFill>
            <a:srgbClr val="23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818120" y="4736592"/>
            <a:ext cx="164592" cy="16459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74152" y="4690872"/>
            <a:ext cx="5486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2DD4BF"/>
                </a:solidFill>
                <a:latin typeface="Aptos"/>
              </a:rPr>
              <a:t>9 mo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32520" y="4690872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F1F5F9"/>
                </a:solidFill>
                <a:latin typeface="Aptos"/>
              </a:rPr>
              <a:t>10 paying customers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882128" y="4919472"/>
            <a:ext cx="36576" cy="411480"/>
          </a:xfrm>
          <a:prstGeom prst="rect">
            <a:avLst/>
          </a:prstGeom>
          <a:solidFill>
            <a:srgbClr val="23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818120" y="5394959"/>
            <a:ext cx="164592" cy="16459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74152" y="5349240"/>
            <a:ext cx="5486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2DD4BF"/>
                </a:solidFill>
                <a:latin typeface="Aptos"/>
              </a:rPr>
              <a:t>12 mo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32520" y="5349240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F1F5F9"/>
                </a:solidFill>
                <a:latin typeface="Aptos"/>
              </a:rPr>
              <a:t>30 paying customers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82128" y="5577840"/>
            <a:ext cx="36576" cy="411480"/>
          </a:xfrm>
          <a:prstGeom prst="rect">
            <a:avLst/>
          </a:prstGeom>
          <a:solidFill>
            <a:srgbClr val="23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18120" y="6053327"/>
            <a:ext cx="164592" cy="16459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74152" y="6007607"/>
            <a:ext cx="5486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2DD4BF"/>
                </a:solidFill>
                <a:latin typeface="Aptos"/>
              </a:rPr>
              <a:t>18 mo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32520" y="6007607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F1F5F9"/>
                </a:solidFill>
                <a:latin typeface="Aptos"/>
              </a:rPr>
              <a:t>Series A process started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